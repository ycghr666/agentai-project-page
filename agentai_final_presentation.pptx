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"/>
            <a:ext cx="12191695" cy="91440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Master AI 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E4E"/>
                </a:solidFill>
                <a:latin typeface="Aptos Display"/>
              </a:rPr>
              <a:t>AgentAI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ptos"/>
              </a:rPr>
              <a:t>A full-stack document Q&amp;A agent that combines Retrieval-Augmented Generation, MCP-based web search, and voice interaction.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88920"/>
            <a:ext cx="822960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2E4E"/>
                </a:solidFill>
                <a:latin typeface="Aptos"/>
              </a:rPr>
              <a:t>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788920"/>
            <a:ext cx="1188720" cy="256032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9488"/>
                </a:solidFill>
                <a:latin typeface="Aptos"/>
              </a:rPr>
              <a:t>MCP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2788920"/>
            <a:ext cx="1005840" cy="256032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9488"/>
                </a:solidFill>
                <a:latin typeface="Aptos"/>
              </a:rPr>
              <a:t>Speech I/O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46120"/>
            <a:ext cx="38862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Core stack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Frontend: React UI for file upload, chat, and voice controls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Backend: Node.js/Express endpoints for upload and /chat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AI layer: LangChain + OpenAI + vector retrieval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Tool use: MCP client/server with SerpAPI web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594360"/>
            <a:ext cx="6172200" cy="5166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ui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896112"/>
            <a:ext cx="5650992" cy="4770318"/>
          </a:xfrm>
          <a:prstGeom prst="rect">
            <a:avLst/>
          </a:prstGeom>
          <a:ln w="11430">
            <a:solidFill>
              <a:srgbClr val="DEE2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1539728" y="6419088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1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7907386-1B6A-86B8-60BD-2DAAA0769D9A}"/>
              </a:ext>
            </a:extLst>
          </p:cNvPr>
          <p:cNvSpPr txBox="1"/>
          <p:nvPr/>
        </p:nvSpPr>
        <p:spPr>
          <a:xfrm>
            <a:off x="3026834" y="3244334"/>
            <a:ext cx="6138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</a:rPr>
              <a:t> 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D870E8-0407-3E7D-3882-38FB0FD1E5C1}"/>
              </a:ext>
            </a:extLst>
          </p:cNvPr>
          <p:cNvSpPr txBox="1"/>
          <p:nvPr/>
        </p:nvSpPr>
        <p:spPr>
          <a:xfrm>
            <a:off x="3026834" y="3244334"/>
            <a:ext cx="6138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</a:rPr>
              <a:t> 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2DAB500-A640-7F37-EE49-3DD29B1E2B25}"/>
              </a:ext>
            </a:extLst>
          </p:cNvPr>
          <p:cNvSpPr txBox="1"/>
          <p:nvPr/>
        </p:nvSpPr>
        <p:spPr>
          <a:xfrm>
            <a:off x="3026834" y="3244334"/>
            <a:ext cx="6138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</a:rPr>
              <a:t> 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18F58A-4029-2962-FDCB-D7C106F497DF}"/>
              </a:ext>
            </a:extLst>
          </p:cNvPr>
          <p:cNvSpPr txBox="1"/>
          <p:nvPr/>
        </p:nvSpPr>
        <p:spPr>
          <a:xfrm>
            <a:off x="3026834" y="3244334"/>
            <a:ext cx="6138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2E4E"/>
                </a:solidFill>
                <a:latin typeface="Aptos Display"/>
              </a:rPr>
              <a:t>Presentation roadmap aligned to the rubric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Aptos"/>
              </a:rPr>
              <a:t>The deck is organized to directly address motivation, baseline, method, experiments, and conclusion.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31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4434840" cy="60350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124712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051560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E4E"/>
                </a:solidFill>
                <a:latin typeface="Aptos"/>
              </a:rPr>
              <a:t>Motivation &amp;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71016"/>
            <a:ext cx="3337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ptos"/>
              </a:rPr>
              <a:t>Why PDF-grounded + web-aware QA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92224"/>
            <a:ext cx="4434840" cy="603504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911096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37944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E4E"/>
                </a:solidFill>
                <a:latin typeface="Aptos"/>
              </a:rPr>
              <a:t>Baseline &amp; related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57400"/>
            <a:ext cx="3337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ptos"/>
              </a:rPr>
              <a:t>Context, comparison, and project positioning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78608"/>
            <a:ext cx="4434840" cy="603504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2697480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2432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E4E"/>
                </a:solidFill>
                <a:latin typeface="Aptos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43784"/>
            <a:ext cx="3337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ptos"/>
              </a:rPr>
              <a:t>RAG pipeline, retrieval path, and MCP tool 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64992"/>
            <a:ext cx="4434840" cy="603504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5800" y="3483864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1071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E4E"/>
                </a:solidFill>
                <a:latin typeface="Aptos"/>
              </a:rPr>
              <a:t>Experiments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630168"/>
            <a:ext cx="3337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ptos"/>
              </a:rPr>
              <a:t>Validation cases and capability 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4434840" cy="603504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5800" y="4270248"/>
            <a:ext cx="502920" cy="292608"/>
          </a:xfrm>
          <a:prstGeom prst="roundRect">
            <a:avLst>
              <a:gd name="adj" fmla="val 20000"/>
            </a:avLst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197096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E4E"/>
                </a:solidFill>
                <a:latin typeface="Aptos"/>
              </a:rPr>
              <a:t>Conclusion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416552"/>
            <a:ext cx="3337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ptos"/>
              </a:rPr>
              <a:t>Strengths, limitations, and next steps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49240"/>
            <a:ext cx="1874519" cy="47548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Time target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≈45–60 seconds per slide, 10 slides total.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822960"/>
            <a:ext cx="608076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(1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1051560"/>
            <a:ext cx="5669280" cy="2240881"/>
          </a:xfrm>
          <a:prstGeom prst="rect">
            <a:avLst/>
          </a:prstGeom>
          <a:ln w="11430">
            <a:solidFill>
              <a:srgbClr val="DEE2E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274320" y="645566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dirty="0">
                <a:solidFill>
                  <a:srgbClr val="4B5563"/>
                </a:solidFill>
                <a:latin typeface="Aptos"/>
              </a:rPr>
              <a:t>Deck structure is guided by the uploaded course rubric screenshot.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19456"/>
            <a:ext cx="7863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0F2E4E"/>
                </a:solidFill>
                <a:latin typeface="Aptos Display"/>
              </a:rPr>
              <a:t>Motivation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31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4206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Why this problem matters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Long PDFs are hard to query; reading and locating specific evidence is time-consuming.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4206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Pure LLM chat is not grounded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Without retrieval, answers depend on the model rather than the uploaded document.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00400"/>
            <a:ext cx="4206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Real questions often need more than one source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Some answers should combine private document context with fresh web information, plus hands-free interaction when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681728"/>
            <a:ext cx="4206240" cy="658368"/>
          </a:xfrm>
          <a:prstGeom prst="roundRect">
            <a:avLst>
              <a:gd name="adj" fmla="val 12000"/>
            </a:avLst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AgentAI supports PDF upload, grounded answers, web search augmentation, and spoken interaction in one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914400"/>
            <a:ext cx="6537960" cy="4498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i_demo_only.png"/>
          <p:cNvPicPr>
            <a:picLocks noChangeAspect="1"/>
          </p:cNvPicPr>
          <p:nvPr/>
        </p:nvPicPr>
        <p:blipFill>
          <a:blip r:embed="rId2"/>
          <a:srcRect l="1722"/>
          <a:stretch>
            <a:fillRect/>
          </a:stretch>
        </p:blipFill>
        <p:spPr>
          <a:xfrm>
            <a:off x="5166360" y="1236854"/>
            <a:ext cx="6537960" cy="3918582"/>
          </a:xfrm>
          <a:prstGeom prst="rect">
            <a:avLst/>
          </a:prstGeom>
          <a:ln w="11430">
            <a:solidFill>
              <a:srgbClr val="DEE2E6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4367"/>
            <a:ext cx="7863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0F2E4E"/>
                </a:solidFill>
                <a:latin typeface="Aptos Display"/>
              </a:rPr>
              <a:t>Baseline &amp;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31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676656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389536"/>
              </p:ext>
            </p:extLst>
          </p:nvPr>
        </p:nvGraphicFramePr>
        <p:xfrm>
          <a:off x="487681" y="1284732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Approach</a:t>
                      </a:r>
                    </a:p>
                  </a:txBody>
                  <a:tcPr marL="63500" marR="63500" marT="38100" marB="38100">
                    <a:solidFill>
                      <a:srgbClr val="0F2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Strength</a:t>
                      </a:r>
                    </a:p>
                  </a:txBody>
                  <a:tcPr marL="63500" marR="63500" marT="38100" marB="38100">
                    <a:solidFill>
                      <a:srgbClr val="0F2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Main limitation</a:t>
                      </a:r>
                    </a:p>
                  </a:txBody>
                  <a:tcPr marL="63500" marR="63500" marT="38100" marB="38100">
                    <a:solidFill>
                      <a:srgbClr val="0F2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Role in this project</a:t>
                      </a:r>
                    </a:p>
                  </a:txBody>
                  <a:tcPr marL="63500" marR="63500" marT="38100" marB="38100">
                    <a:solidFill>
                      <a:srgbClr val="0F2E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Direct LLM chat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Simple natural-language interface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No access to uploaded PDFs or live external context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Weak baseline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RAG on local documents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Grounded answers from PDF passages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1F2937"/>
                          </a:solidFill>
                          <a:latin typeface="Aptos"/>
                        </a:rPr>
                        <a:t>Limited when the question needs fresh or external information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Core baseline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Agentic RAG + MCP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Grounded + tool-augmented answers with separate support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Higher system complexity and latency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1F2937"/>
                          </a:solidFill>
                          <a:latin typeface="Aptos"/>
                        </a:rPr>
                        <a:t>Proposed method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84632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Related ideas used in the project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LangChain for orchestration of retrieval, prompting, and model calls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MCP for standardized tool access to web search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Aptos"/>
              </a:rPr>
              <a:t>Speech recognition and text-to-speech for multimodal interaction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14400"/>
            <a:ext cx="42062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1078992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E4E"/>
                </a:solidFill>
                <a:latin typeface="Aptos"/>
              </a:rPr>
              <a:t>MCP as a standardized way to connect a model client to external tools and services</a:t>
            </a:r>
          </a:p>
        </p:txBody>
      </p:sp>
      <p:pic>
        <p:nvPicPr>
          <p:cNvPr id="10" name="Picture 9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1600200"/>
            <a:ext cx="3566160" cy="5040572"/>
          </a:xfrm>
          <a:prstGeom prst="rect">
            <a:avLst/>
          </a:prstGeom>
          <a:ln w="11430">
            <a:solidFill>
              <a:srgbClr val="DEE2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726679" y="507492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ptos"/>
              </a:rPr>
              <a:t>This project adopts MCP to expose a search_web tool and call it from the backend chat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7863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0F2E4E"/>
                </a:solidFill>
                <a:latin typeface="Aptos Display"/>
              </a:rPr>
              <a:t>Overall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31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3300645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3544" y="3401229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3392085"/>
            <a:ext cx="886968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2E4E"/>
                </a:solidFill>
                <a:latin typeface="Aptos"/>
              </a:rPr>
              <a:t>User
ask / 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3300645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15184" y="3401229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3392085"/>
            <a:ext cx="161848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2E4E"/>
                </a:solidFill>
                <a:latin typeface="Aptos"/>
              </a:rPr>
              <a:t>React
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3300645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81144" y="3401229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3392085"/>
            <a:ext cx="16642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E4E"/>
                </a:solidFill>
                <a:latin typeface="Aptos"/>
              </a:rPr>
              <a:t>Express
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552" y="2733717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75704" y="2834301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825157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E4E"/>
                </a:solidFill>
                <a:latin typeface="Aptos"/>
              </a:rPr>
              <a:t>RAG
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2552" y="3959013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75704" y="4059597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4050453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E4E"/>
                </a:solidFill>
                <a:latin typeface="Aptos"/>
              </a:rPr>
              <a:t>MCP
search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9992" y="2733717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53144" y="2834301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825157"/>
            <a:ext cx="1618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E4E"/>
                </a:solidFill>
                <a:latin typeface="Aptos"/>
              </a:rPr>
              <a:t>ragAnswer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9992" y="3959013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53144" y="4059597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4050453"/>
            <a:ext cx="1618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E4E"/>
                </a:solidFill>
                <a:latin typeface="Aptos"/>
              </a:rPr>
              <a:t>mcpAnswer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67712" y="3830997"/>
            <a:ext cx="256032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33672" y="3830997"/>
            <a:ext cx="256032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345936" y="3254925"/>
            <a:ext cx="329184" cy="36576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45936" y="4032165"/>
            <a:ext cx="329184" cy="45720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23376" y="3254925"/>
            <a:ext cx="338328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23376" y="4489365"/>
            <a:ext cx="338328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54312" y="2450253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E4E"/>
                </a:solidFill>
                <a:latin typeface="Aptos"/>
              </a:rPr>
              <a:t>Outputs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120640"/>
            <a:ext cx="10378440" cy="566928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100" dirty="0">
                <a:solidFill>
                  <a:srgbClr val="1F2937"/>
                </a:solidFill>
                <a:latin typeface="Aptos"/>
              </a:rPr>
              <a:t>Server logic returns both answer paths so users can compare document-grounded and web-grounded responses in one conversation.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AC0BEB92-6C1C-EFD7-DCB4-BA80E6D2A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89964"/>
            <a:ext cx="10106073" cy="1819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7863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0F2E4E"/>
                </a:solidFill>
                <a:latin typeface="Aptos Display"/>
              </a:rPr>
              <a:t>Method I: document-grounded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31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386" y="1054662"/>
            <a:ext cx="1143000" cy="9601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538" y="1155246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3298" y="1146102"/>
            <a:ext cx="9784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E4E"/>
                </a:solidFill>
                <a:latin typeface="Aptos"/>
              </a:rPr>
              <a:t>Upload
PDF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27386" y="1530150"/>
            <a:ext cx="73152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664546" y="1054662"/>
            <a:ext cx="1143000" cy="96012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698" y="1155246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458" y="1146102"/>
            <a:ext cx="9784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E4E"/>
                </a:solidFill>
                <a:latin typeface="Aptos"/>
              </a:rPr>
              <a:t>Parse &amp;
split 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07546" y="1530150"/>
            <a:ext cx="256032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27586" y="1054662"/>
            <a:ext cx="1143000" cy="9601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00738" y="1155246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498" y="1146102"/>
            <a:ext cx="77724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2E4E"/>
                </a:solidFill>
                <a:latin typeface="Aptos"/>
              </a:rPr>
              <a:t>Embed &amp;
store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70586" y="1530150"/>
            <a:ext cx="347472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82066" y="1054662"/>
            <a:ext cx="1143000" cy="96012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55218" y="1155246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978" y="1146102"/>
            <a:ext cx="9784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E4E"/>
                </a:solidFill>
                <a:latin typeface="Aptos"/>
              </a:rPr>
              <a:t>Retrieve
context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25066" y="1530150"/>
            <a:ext cx="347472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36546" y="1054662"/>
            <a:ext cx="1211580" cy="9601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698" y="1155246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2E4E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458" y="1146102"/>
            <a:ext cx="97840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2E4E"/>
                </a:solidFill>
                <a:latin typeface="Aptos"/>
              </a:rPr>
              <a:t>Generate
answer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440BBC4-B951-79D3-4DE6-DF4E5447B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985" y="2842624"/>
            <a:ext cx="7154015" cy="234628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6098" y="3055648"/>
            <a:ext cx="4709160" cy="1874519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 dirty="0">
                <a:solidFill>
                  <a:srgbClr val="0F2E4E"/>
                </a:solidFill>
                <a:latin typeface="Aptos"/>
              </a:rPr>
              <a:t>Design rationale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F2937"/>
                </a:solidFill>
                <a:latin typeface="Aptos"/>
              </a:rPr>
              <a:t>Retrieval grounds the answer in the uploaded file instead of asking the LLM to rely on general memory.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F2937"/>
                </a:solidFill>
                <a:latin typeface="Aptos"/>
              </a:rPr>
              <a:t>Chunking and embeddings make long PDFs searchable at semantic level.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F2937"/>
                </a:solidFill>
                <a:latin typeface="Aptos"/>
              </a:rPr>
              <a:t>The prompt asks for concise, context-aware answers.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7800"/>
            <a:ext cx="7863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0F2E4E"/>
                </a:solidFill>
                <a:latin typeface="Aptos Display"/>
              </a:rPr>
              <a:t>Method II: MCP tool use + voice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31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914400"/>
            <a:ext cx="5401733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078992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F2E4E"/>
                </a:solidFill>
                <a:latin typeface="Aptos"/>
              </a:rPr>
              <a:t>MCP search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37360"/>
            <a:ext cx="868680" cy="80467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828800"/>
            <a:ext cx="70408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2E4E"/>
                </a:solidFill>
                <a:latin typeface="Aptos"/>
              </a:rPr>
              <a:t>User
query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09928" y="2139696"/>
            <a:ext cx="22860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93392" y="1737360"/>
            <a:ext cx="868680" cy="804672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1828800"/>
            <a:ext cx="70408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E4E"/>
                </a:solidFill>
                <a:latin typeface="Aptos"/>
              </a:rPr>
              <a:t>MCP
client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62072" y="2139696"/>
            <a:ext cx="219456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36392" y="1737360"/>
            <a:ext cx="868680" cy="804672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1828800"/>
            <a:ext cx="70408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2E4E"/>
                </a:solidFill>
                <a:latin typeface="Aptos"/>
              </a:rPr>
              <a:t>MCP
server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05072" y="2139696"/>
            <a:ext cx="219456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79392" y="1737360"/>
            <a:ext cx="1271354" cy="804672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19" y="1828800"/>
            <a:ext cx="106002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2E4E"/>
                </a:solidFill>
                <a:latin typeface="Aptos"/>
              </a:rPr>
              <a:t>Web
snippet
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78892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Aptos"/>
              </a:rPr>
              <a:t>A dedicated MCP server exposes a search_web tool backed by SerpAPI.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Aptos"/>
              </a:rPr>
              <a:t>The chat path can call the tool, collect snippets, and summarize them with the model.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Aptos"/>
              </a:rPr>
              <a:t>This complements or cross-checks the PDF-grounded answer when external context is useful.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4591" y="913258"/>
            <a:ext cx="5401733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05600" y="1028587"/>
            <a:ext cx="2468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F2E4E"/>
                </a:solidFill>
                <a:latin typeface="Aptos"/>
              </a:rPr>
              <a:t>Voice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9922" y="4457813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dirty="0">
                <a:solidFill>
                  <a:srgbClr val="1F2937"/>
                </a:solidFill>
                <a:latin typeface="Aptos"/>
              </a:rPr>
              <a:t>Speech-to-text via react-speech-recognition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1F2937"/>
                </a:solidFill>
                <a:latin typeface="Aptos"/>
              </a:rPr>
              <a:t>Text-to-speech via speak-</a:t>
            </a:r>
            <a:r>
              <a:rPr sz="1100" dirty="0" err="1">
                <a:solidFill>
                  <a:srgbClr val="1F2937"/>
                </a:solidFill>
                <a:latin typeface="Aptos"/>
              </a:rPr>
              <a:t>tts</a:t>
            </a:r>
            <a:endParaRPr sz="1100" dirty="0">
              <a:solidFill>
                <a:srgbClr val="1F2937"/>
              </a:solidFill>
              <a:latin typeface="Apto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1F2937"/>
                </a:solidFill>
                <a:latin typeface="Aptos"/>
              </a:rPr>
              <a:t>Supports chat mode toggling, recording, and spoken playback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84431E9F-D44C-EF96-A2D7-CD342822C3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025"/>
          <a:stretch>
            <a:fillRect/>
          </a:stretch>
        </p:blipFill>
        <p:spPr>
          <a:xfrm>
            <a:off x="6334592" y="1876368"/>
            <a:ext cx="5354490" cy="605628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24175DA8-8AC3-DF9E-5985-9D7FD740E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441" y="2623022"/>
            <a:ext cx="4956751" cy="8468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5947" y="299850"/>
            <a:ext cx="7863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0F2E4E"/>
                </a:solidFill>
                <a:latin typeface="Aptos Display"/>
              </a:rPr>
              <a:t>Why this is more than API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31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Document ingestion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PDF upload endpoint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PDFLoader + chunking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Embeddings + vector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234440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Standardized tool use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Dedicated MCP server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search_web tool via SerpAPI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stdio client/server transport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 dirty="0">
                <a:solidFill>
                  <a:srgbClr val="0F2E4E"/>
                </a:solidFill>
                <a:latin typeface="Aptos"/>
              </a:rPr>
              <a:t>Full-stack UI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1F2937"/>
                </a:solidFill>
                <a:latin typeface="Aptos"/>
              </a:rPr>
              <a:t>React upload + chat controls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1F2937"/>
                </a:solidFill>
                <a:latin typeface="Aptos"/>
              </a:rPr>
              <a:t>Dual-answer rendering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1F2937"/>
                </a:solidFill>
                <a:latin typeface="Aptos"/>
              </a:rPr>
              <a:t>Voice mode and loading states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234440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Production thinking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AWS Amplify / App Runner path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NFR checklist in the project pad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Maintainability, security, usability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3474719"/>
            <a:ext cx="11430001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E4E"/>
                </a:solidFill>
                <a:latin typeface="Aptos"/>
              </a:rPr>
              <a:t>Key modules from the coding pad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041648"/>
            <a:ext cx="4983480" cy="384048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078224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server/chat.js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4078224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Aptos"/>
              </a:rPr>
              <a:t>PDF retrieval + prompt-based RAG answer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4041648"/>
            <a:ext cx="4983480" cy="384048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7648" y="4078224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server/chat-mcp.js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078224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Aptos"/>
              </a:rPr>
              <a:t>MCP client that calls search_web and summarizes search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517136"/>
            <a:ext cx="4983480" cy="384048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553712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server/mcp-server.js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455371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Aptos"/>
              </a:rPr>
              <a:t>MCP server that exposes the SerpAPI-backed tool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517136"/>
            <a:ext cx="4983480" cy="384048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4553712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src/components/*.js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455371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Aptos"/>
              </a:rPr>
              <a:t>Uploader, chat controls, dual-answer renderer, and voice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73295"/>
            <a:ext cx="7863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0F2E4E"/>
                </a:solidFill>
                <a:latin typeface="Aptos Display"/>
              </a:rPr>
              <a:t>Demo view &amp; qualitative results</a:t>
            </a:r>
          </a:p>
          <a:p>
            <a:pPr>
              <a:spcBef>
                <a:spcPts val="0"/>
              </a:spcBef>
            </a:pPr>
            <a:endParaRPr sz="900" dirty="0">
              <a:solidFill>
                <a:srgbClr val="4B556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93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55778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55080" y="91440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Observed interaction pattern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For one user question, the interface can show a document-grounded RAG answer and a web-grounded MCP answer side by 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0116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Result 1: uploaded-file specificity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The RAG path helps the system answer questions tied to the uploaded PDF instead of general background knowledge.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063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Result 2: external context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The MCP path can add fresh or broader context when the uploaded file alone is not enough.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1148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2E4E"/>
                </a:solidFill>
                <a:latin typeface="Aptos"/>
              </a:rPr>
              <a:t>Result 3: spoken loop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Voice mode allows speech input and spoken playback, making the demo feel like an interactive AI agent rather than a static web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97010"/>
            <a:ext cx="11236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641847"/>
            <a:ext cx="1300144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641847"/>
            <a:ext cx="1067976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F2E4E"/>
                </a:solidFill>
                <a:latin typeface="Aptos"/>
              </a:rPr>
              <a:t>Direct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5641847"/>
            <a:ext cx="1067976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F2E4E"/>
                </a:solidFill>
                <a:latin typeface="Aptos"/>
              </a:rP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641847"/>
            <a:ext cx="1067976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F2E4E"/>
                </a:solidFill>
                <a:latin typeface="Aptos"/>
              </a:rPr>
              <a:t>AgentAI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815583"/>
            <a:ext cx="143944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ptos"/>
              </a:rPr>
              <a:t>PDF-specific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5815583"/>
            <a:ext cx="55720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ptos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5815583"/>
            <a:ext cx="55720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C55E"/>
                </a:solidFill>
                <a:latin typeface="Aptos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4999" y="5815583"/>
            <a:ext cx="55720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C55E"/>
                </a:solidFill>
                <a:latin typeface="Aptos"/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79" y="5943599"/>
            <a:ext cx="143944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ptos"/>
              </a:rPr>
              <a:t>Fresh web 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19" y="5943599"/>
            <a:ext cx="55720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ptos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5943599"/>
            <a:ext cx="55720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dirty="0">
                <a:solidFill>
                  <a:srgbClr val="DC2626"/>
                </a:solidFill>
                <a:latin typeface="Aptos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4999" y="5943599"/>
            <a:ext cx="55720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C55E"/>
                </a:solidFill>
                <a:latin typeface="Aptos"/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79" y="6071615"/>
            <a:ext cx="143944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ptos"/>
              </a:rPr>
              <a:t>Voice I/O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19" y="6071615"/>
            <a:ext cx="55720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ptos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6071615"/>
            <a:ext cx="55720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ptos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4999" y="6071615"/>
            <a:ext cx="557205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2C55E"/>
                </a:solidFill>
                <a:latin typeface="Aptos"/>
              </a:rPr>
              <a:t>Yes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2E4E"/>
                </a:solidFill>
                <a:latin typeface="Aptos Display"/>
              </a:rPr>
              <a:t>Experiments &amp; validation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Aptos"/>
              </a:rPr>
              <a:t>Because the project focuses on integration rather than model training, evaluation is presented as functional case studies plus baseline capability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31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32688"/>
            <a:ext cx="68580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70432"/>
          <a:ext cx="6492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01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Scenario</a:t>
                      </a:r>
                    </a:p>
                  </a:txBody>
                  <a:tcPr marL="63500" marR="63500" marT="38100" marB="38100">
                    <a:solidFill>
                      <a:srgbClr val="0F2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Baseline issue</a:t>
                      </a:r>
                    </a:p>
                  </a:txBody>
                  <a:tcPr marL="63500" marR="63500" marT="38100" marB="38100">
                    <a:solidFill>
                      <a:srgbClr val="0F2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Observed system behavior</a:t>
                      </a:r>
                    </a:p>
                  </a:txBody>
                  <a:tcPr marL="63500" marR="63500" marT="38100" marB="38100">
                    <a:solidFill>
                      <a:srgbClr val="0F2E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Question about uploaded PDF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Direct LLM chat lacks access to the uploaded document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RAG path returns a grounded answer through the /chat endpoint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Need current or broader information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RAG is limited to local document context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MCP path can search the web and provide a second answer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Hands-free interaction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Text-only systems do not support spoken use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Aptos"/>
                        </a:rPr>
                        <a:t>Voice mode supports STT for input and TTS for playback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873752"/>
            <a:ext cx="6446520" cy="384048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050">
                <a:solidFill>
                  <a:srgbClr val="1F2937"/>
                </a:solidFill>
                <a:latin typeface="Aptos"/>
              </a:rPr>
              <a:t>Next evaluation step: add user-study metrics (accuracy, grounding quality, latency, and speech usability).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932688"/>
            <a:ext cx="40690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097280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E4E"/>
                </a:solidFill>
                <a:latin typeface="Aptos"/>
              </a:rPr>
              <a:t>Evidence from the local UI and the project record</a:t>
            </a:r>
          </a:p>
        </p:txBody>
      </p:sp>
      <p:pic>
        <p:nvPicPr>
          <p:cNvPr id="10" name="Picture 9" descr="voice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600200"/>
            <a:ext cx="3160166" cy="2926080"/>
          </a:xfrm>
          <a:prstGeom prst="rect">
            <a:avLst/>
          </a:prstGeom>
          <a:ln w="11430">
            <a:solidFill>
              <a:srgbClr val="DEE2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909560" y="4663440"/>
            <a:ext cx="3383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Aptos"/>
              </a:rPr>
              <a:t>This presentation deliberately avoids made-up quantitative numbers and instead frames the current validation honestly as implemented capability plus demo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5566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4B5563"/>
                </a:solidFill>
                <a:latin typeface="Aptos"/>
              </a:rPr>
              <a:t>The experiments slide is designed to be credible: no fabricated metrics, but clear evaluation logic.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5081"/>
            <a:ext cx="7863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0F2E4E"/>
                </a:solidFill>
                <a:latin typeface="Aptos Display"/>
              </a:rPr>
              <a:t>Conclusion &amp; discussion</a:t>
            </a:r>
          </a:p>
          <a:p>
            <a:pPr>
              <a:spcBef>
                <a:spcPts val="0"/>
              </a:spcBef>
            </a:pPr>
            <a:endParaRPr sz="900" dirty="0">
              <a:solidFill>
                <a:srgbClr val="4B556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31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34747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0972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F2E4E"/>
                </a:solidFill>
                <a:latin typeface="Aptos"/>
              </a:rPr>
              <a:t>What worked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44752"/>
            <a:ext cx="292608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Grounded QA over uploaded PDFs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MCP extends the system beyond closed-document retrieval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Dual-answer UI clearly separates private document and public web support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Full-stack integration, not just calling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914400"/>
            <a:ext cx="3474720" cy="45262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097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Aptos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444752"/>
            <a:ext cx="292608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1F2937"/>
                </a:solidFill>
                <a:latin typeface="Aptos"/>
              </a:rPr>
              <a:t>MemoryVectorStore</a:t>
            </a:r>
            <a:r>
              <a:rPr sz="1600" dirty="0">
                <a:solidFill>
                  <a:srgbClr val="1F2937"/>
                </a:solidFill>
                <a:latin typeface="Aptos"/>
              </a:rPr>
              <a:t> is in-memory only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Current flow tracks a single active uploaded file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Web search is always called instead of selectively triggered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No displayed citations, auth, or rate limiting yet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914400"/>
            <a:ext cx="3474720" cy="452628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0768" y="1097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Aptos"/>
              </a:rPr>
              <a:t>Next-step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1444752"/>
            <a:ext cx="283464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Persistent vector DB and multi-document retrieval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Selective tool routing and better source citations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Cloud deployment with auth, logging, and monitoring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F2937"/>
                </a:solidFill>
                <a:latin typeface="Aptos"/>
              </a:rPr>
              <a:t>User feedback loop for demo and production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5566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4B5563"/>
                </a:solidFill>
                <a:latin typeface="Aptos"/>
              </a:rPr>
              <a:t>End of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64592"/>
            <a:ext cx="11823192" cy="73152"/>
          </a:xfrm>
          <a:prstGeom prst="rect">
            <a:avLst/>
          </a:prstGeom>
          <a:solidFill>
            <a:srgbClr val="0F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0F2E4E"/>
                </a:solidFill>
                <a:latin typeface="Aptos Display"/>
              </a:rPr>
              <a:t>Appendix: implementation evidence &amp; selected references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Aptos"/>
              </a:rPr>
              <a:t>Backup slide for Q&amp;A. Use only if the instructor asks for deeper technical details.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6455664"/>
            <a:ext cx="3931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B5563"/>
                </a:solidFill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07899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E4E"/>
                </a:solidFill>
                <a:latin typeface="Aptos"/>
              </a:rPr>
              <a:t>Representative code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5138928" cy="512064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server/chat.js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572768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4B5563"/>
                </a:solidFill>
                <a:latin typeface="Aptos"/>
              </a:rPr>
              <a:t>Loads PDF, splits into chunks, builds MemoryVectorStore, retrieves context, prompts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76272"/>
            <a:ext cx="5138928" cy="512064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server/server.js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24028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4B5563"/>
                </a:solidFill>
                <a:latin typeface="Aptos"/>
              </a:rPr>
              <a:t>Defines /upload and /chat endpoints and returns ragAnswer + mcpAnswer.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843784"/>
            <a:ext cx="5138928" cy="512064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90779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server/mcp-server.js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290779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4B5563"/>
                </a:solidFill>
                <a:latin typeface="Aptos"/>
              </a:rPr>
              <a:t>Registers the search_web tool backed by SerpAPI and exposes it over stdio.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511296"/>
            <a:ext cx="5138928" cy="512064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575304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server/chat-mcp.js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3575304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4B5563"/>
                </a:solidFill>
                <a:latin typeface="Aptos"/>
              </a:rPr>
              <a:t>Keeps a reusable MCP client connection, calls search_web, and summarizes results.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178808"/>
            <a:ext cx="5138928" cy="512064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242816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src/components/ChatComponent.js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4242816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4B5563"/>
                </a:solidFill>
                <a:latin typeface="Aptos"/>
              </a:rPr>
              <a:t>Handles query input, voice mode, recording state, and spoken playback.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846320"/>
            <a:ext cx="5138928" cy="512064"/>
          </a:xfrm>
          <a:prstGeom prst="roundRect">
            <a:avLst>
              <a:gd name="adj" fmla="val 8000"/>
            </a:avLst>
          </a:prstGeom>
          <a:solidFill>
            <a:srgbClr val="FAF5EB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910328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F2E4E"/>
                </a:solidFill>
                <a:latin typeface="Aptos"/>
              </a:rPr>
              <a:t>src/components/PdfUploader.js + RenderQA.js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910328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4B5563"/>
                </a:solidFill>
                <a:latin typeface="Aptos"/>
              </a:rPr>
              <a:t>Handle file upload and dual-answer rendering in the UI.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914400"/>
            <a:ext cx="534924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01968" y="107899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E4E"/>
                </a:solidFill>
                <a:latin typeface="Aptos"/>
              </a:rPr>
              <a:t>Selected references /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1481328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Aptos"/>
              </a:rPr>
              <a:t>React + Ant Design for frontend interaction design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Aptos"/>
              </a:rPr>
              <a:t>Node.js + Express for backend service endpoints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Aptos"/>
              </a:rPr>
              <a:t>LangChain for retrieval and prompting orchestration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Aptos"/>
              </a:rPr>
              <a:t>OpenAI model + embeddings for generation and vectorization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Aptos"/>
              </a:rPr>
              <a:t>Model Context Protocol (MCP) for standardized tool access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Aptos"/>
              </a:rPr>
              <a:t>SerpAPI for Google search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3977639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E4E"/>
                </a:solidFill>
                <a:latin typeface="Aptos"/>
              </a:rPr>
              <a:t>Possible discussion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315968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Why use MCP instead of calling search directly?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How would you scale from one PDF to many documents?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F2937"/>
                </a:solidFill>
                <a:latin typeface="Aptos"/>
              </a:rPr>
              <a:t>What metrics would you add in a next iteration?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55664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4B5563"/>
                </a:solidFill>
                <a:latin typeface="Aptos"/>
              </a:rPr>
              <a:t>Appendix slide: use only if needed during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1401</Words>
  <Application>Microsoft Office PowerPoint</Application>
  <PresentationFormat>宽屏</PresentationFormat>
  <Paragraphs>236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 H</cp:lastModifiedBy>
  <cp:revision>2</cp:revision>
  <dcterms:created xsi:type="dcterms:W3CDTF">2013-01-27T09:14:16Z</dcterms:created>
  <dcterms:modified xsi:type="dcterms:W3CDTF">2026-04-23T05:40:03Z</dcterms:modified>
  <cp:category/>
</cp:coreProperties>
</file>